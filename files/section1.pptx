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20"/>
  </p:notesMasterIdLst>
  <p:sldIdLst>
    <p:sldId id="256" r:id="rId3"/>
    <p:sldId id="257" r:id="rId4"/>
    <p:sldId id="304" r:id="rId5"/>
    <p:sldId id="258" r:id="rId6"/>
    <p:sldId id="263" r:id="rId7"/>
    <p:sldId id="260" r:id="rId8"/>
    <p:sldId id="305" r:id="rId9"/>
    <p:sldId id="306" r:id="rId10"/>
    <p:sldId id="307" r:id="rId11"/>
    <p:sldId id="266" r:id="rId12"/>
    <p:sldId id="309" r:id="rId13"/>
    <p:sldId id="265" r:id="rId14"/>
    <p:sldId id="308" r:id="rId15"/>
    <p:sldId id="272" r:id="rId16"/>
    <p:sldId id="270" r:id="rId17"/>
    <p:sldId id="310" r:id="rId18"/>
    <p:sldId id="303" r:id="rId19"/>
  </p:sldIdLst>
  <p:sldSz cx="9144000" cy="5143500" type="screen16x9"/>
  <p:notesSz cx="6858000" cy="9144000"/>
  <p:embeddedFontLst>
    <p:embeddedFont>
      <p:font typeface="Abel" panose="02000506030000020004" pitchFamily="2" charset="0"/>
      <p:regular r:id="rId21"/>
    </p:embeddedFont>
    <p:embeddedFont>
      <p:font typeface="Barlow Semi Condensed" panose="00000506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016BE-2D25-EA1D-D0C0-754C65AD7D43}" v="1" dt="2025-09-30T16:30:52.985"/>
    <p1510:client id="{8CC8AE8B-F9B6-DF78-FFAF-060CB2812E72}" v="2" dt="2025-09-30T19:58:36.629"/>
    <p1510:client id="{D04AB67B-F944-57B1-9A23-498BC22BA1FF}" v="3" dt="2025-09-30T15:24:36.115"/>
  </p1510:revLst>
</p1510:revInfo>
</file>

<file path=ppt/tableStyles.xml><?xml version="1.0" encoding="utf-8"?>
<a:tblStyleLst xmlns:a="http://schemas.openxmlformats.org/drawingml/2006/main" def="{175D3443-3FEC-4C00-A53C-6E59EF4F39E6}">
  <a:tblStyle styleId="{175D3443-3FEC-4C00-A53C-6E59EF4F39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775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033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#include &lt;</a:t>
            </a:r>
            <a:r>
              <a:rPr lang="en-US" err="1"/>
              <a:t>iostream</a:t>
            </a:r>
            <a:r>
              <a:rPr lang="en-US"/>
              <a:t>&gt;   // </a:t>
            </a:r>
            <a:r>
              <a:rPr lang="en-US" err="1"/>
              <a:t>Input/Output</a:t>
            </a:r>
            <a:r>
              <a:rPr lang="en-US"/>
              <a:t> library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namespace </a:t>
            </a:r>
            <a:r>
              <a:rPr lang="en-US" err="1"/>
              <a:t>std</a:t>
            </a:r>
            <a:r>
              <a:rPr lang="en-US"/>
              <a:t>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int</a:t>
            </a:r>
            <a:r>
              <a:rPr lang="en-US"/>
              <a:t> main()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 err="1"/>
              <a:t>cout</a:t>
            </a:r>
            <a:r>
              <a:rPr lang="en-US"/>
              <a:t> &lt;&lt; "Welcome to Computer Science with C++!" &lt;&lt; </a:t>
            </a:r>
            <a:r>
              <a:rPr lang="en-US" err="1"/>
              <a:t>endl</a:t>
            </a:r>
            <a:r>
              <a:rPr lang="en-US"/>
              <a:t>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return 0;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3055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#include &lt;</a:t>
            </a:r>
            <a:r>
              <a:rPr lang="en-US" err="1"/>
              <a:t>iostream</a:t>
            </a:r>
            <a:r>
              <a:rPr lang="en-US"/>
              <a:t>&gt;   // </a:t>
            </a:r>
            <a:r>
              <a:rPr lang="en-US" err="1"/>
              <a:t>Input/Output</a:t>
            </a:r>
            <a:r>
              <a:rPr lang="en-US"/>
              <a:t> library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namespace </a:t>
            </a:r>
            <a:r>
              <a:rPr lang="en-US" err="1"/>
              <a:t>std</a:t>
            </a:r>
            <a:r>
              <a:rPr lang="en-US"/>
              <a:t>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int</a:t>
            </a:r>
            <a:r>
              <a:rPr lang="en-US"/>
              <a:t> main()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 err="1"/>
              <a:t>cout</a:t>
            </a:r>
            <a:r>
              <a:rPr lang="en-US"/>
              <a:t> &lt;&lt; "Welcome to Computer Science with C++!" &lt;&lt; </a:t>
            </a:r>
            <a:r>
              <a:rPr lang="en-US" err="1"/>
              <a:t>endl</a:t>
            </a:r>
            <a:r>
              <a:rPr lang="en-US"/>
              <a:t>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return 0;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98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404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220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8714a43093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8714a43093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556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6" name="Google Shape;15336;g86fa6133bc_4_20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7" name="Google Shape;15337;g86fa6133bc_4_20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2" r:id="rId9"/>
    <p:sldLayoutId id="2147483669" r:id="rId10"/>
    <p:sldLayoutId id="2147483673" r:id="rId11"/>
    <p:sldLayoutId id="2147483674" r:id="rId12"/>
    <p:sldLayoutId id="2147483675" r:id="rId13"/>
    <p:sldLayoutId id="2147483676" r:id="rId14"/>
  </p:sldLayoutIdLst>
  <p:transition spd="med">
    <p:pull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84" name="Google Shape;1684;p3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transition spd="med">
    <p:pull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810330" y="1870702"/>
            <a:ext cx="1992846" cy="935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CS.102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21803" y="2882689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accent1"/>
                </a:solidFill>
              </a:rPr>
              <a:t>Fall 2025-2026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Lab 1</a:t>
            </a: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30" y="68035"/>
            <a:ext cx="1394301" cy="10990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What is Computer Science?</a:t>
            </a:r>
            <a:endParaRPr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607773" y="784015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1600"/>
              </a:spcBef>
              <a:buClr>
                <a:srgbClr val="30394B"/>
              </a:buClr>
            </a:pPr>
            <a:r>
              <a:rPr lang="ar-EG" sz="2000" err="1"/>
              <a:t>Computer</a:t>
            </a:r>
            <a:r>
              <a:rPr lang="ar-EG" sz="2000"/>
              <a:t> </a:t>
            </a:r>
            <a:r>
              <a:rPr lang="ar-EG" sz="2000" err="1"/>
              <a:t>Science</a:t>
            </a:r>
            <a:r>
              <a:rPr lang="ar-EG" sz="2000"/>
              <a:t> (CS) </a:t>
            </a:r>
            <a:r>
              <a:rPr lang="ar-EG" sz="2000" err="1"/>
              <a:t>is</a:t>
            </a:r>
            <a:r>
              <a:rPr lang="ar-EG" sz="2000"/>
              <a:t> </a:t>
            </a:r>
            <a:r>
              <a:rPr lang="ar-EG" sz="2000" err="1"/>
              <a:t>the</a:t>
            </a:r>
            <a:r>
              <a:rPr lang="ar-EG" sz="2000"/>
              <a:t> </a:t>
            </a:r>
            <a:r>
              <a:rPr lang="ar-EG" sz="2000" err="1"/>
              <a:t>study</a:t>
            </a:r>
            <a:r>
              <a:rPr lang="ar-EG" sz="2000"/>
              <a:t> </a:t>
            </a:r>
            <a:r>
              <a:rPr lang="ar-EG" sz="2000" err="1"/>
              <a:t>of</a:t>
            </a:r>
            <a:r>
              <a:rPr lang="ar-EG" sz="2000"/>
              <a:t> </a:t>
            </a:r>
            <a:r>
              <a:rPr lang="ar-EG" sz="2000" err="1"/>
              <a:t>computers</a:t>
            </a:r>
            <a:r>
              <a:rPr lang="ar-EG" sz="2000"/>
              <a:t>, </a:t>
            </a:r>
            <a:r>
              <a:rPr lang="ar-EG" sz="2000" err="1"/>
              <a:t>algorithms</a:t>
            </a:r>
            <a:r>
              <a:rPr lang="ar-EG" sz="2000"/>
              <a:t>, </a:t>
            </a:r>
            <a:r>
              <a:rPr lang="ar-EG" sz="2000" err="1"/>
              <a:t>and</a:t>
            </a:r>
            <a:r>
              <a:rPr lang="ar-EG" sz="2000"/>
              <a:t> </a:t>
            </a:r>
            <a:r>
              <a:rPr lang="ar-EG" sz="2000" err="1"/>
              <a:t>problem-solving</a:t>
            </a:r>
            <a:r>
              <a:rPr lang="ar-EG" sz="2000"/>
              <a:t>.</a:t>
            </a:r>
          </a:p>
          <a:p>
            <a:pPr lvl="0">
              <a:spcBef>
                <a:spcPts val="1600"/>
              </a:spcBef>
              <a:buClr>
                <a:srgbClr val="30394B"/>
              </a:buClr>
            </a:pPr>
            <a:r>
              <a:rPr lang="ar-EG" sz="2000" err="1"/>
              <a:t>It</a:t>
            </a:r>
            <a:r>
              <a:rPr lang="ar-EG" sz="2000"/>
              <a:t> </a:t>
            </a:r>
            <a:r>
              <a:rPr lang="ar-EG" sz="2000" err="1"/>
              <a:t>covers</a:t>
            </a:r>
            <a:r>
              <a:rPr lang="ar-EG" sz="2000"/>
              <a:t> </a:t>
            </a:r>
            <a:r>
              <a:rPr lang="ar-EG" sz="2000" err="1"/>
              <a:t>both</a:t>
            </a:r>
            <a:r>
              <a:rPr lang="ar-EG" sz="2000"/>
              <a:t> </a:t>
            </a:r>
            <a:r>
              <a:rPr lang="ar-EG" sz="2000" err="1"/>
              <a:t>theoretical</a:t>
            </a:r>
            <a:r>
              <a:rPr lang="ar-EG" sz="2000"/>
              <a:t> </a:t>
            </a:r>
            <a:r>
              <a:rPr lang="ar-EG" sz="2000" err="1"/>
              <a:t>foundations</a:t>
            </a:r>
            <a:r>
              <a:rPr lang="ar-EG" sz="2000"/>
              <a:t> (</a:t>
            </a:r>
            <a:r>
              <a:rPr lang="ar-EG" sz="2000" err="1"/>
              <a:t>mathematics</a:t>
            </a:r>
            <a:r>
              <a:rPr lang="ar-EG" sz="2000"/>
              <a:t>, </a:t>
            </a:r>
            <a:r>
              <a:rPr lang="ar-EG" sz="2000" err="1"/>
              <a:t>logic</a:t>
            </a:r>
            <a:r>
              <a:rPr lang="ar-EG" sz="2000"/>
              <a:t>, </a:t>
            </a:r>
            <a:r>
              <a:rPr lang="ar-EG" sz="2000" err="1"/>
              <a:t>algorithms</a:t>
            </a:r>
            <a:r>
              <a:rPr lang="ar-EG" sz="2000"/>
              <a:t>) </a:t>
            </a:r>
            <a:r>
              <a:rPr lang="ar-EG" sz="2000" err="1"/>
              <a:t>and</a:t>
            </a:r>
            <a:r>
              <a:rPr lang="ar-EG" sz="2000"/>
              <a:t> </a:t>
            </a:r>
            <a:r>
              <a:rPr lang="ar-EG" sz="2000" err="1"/>
              <a:t>practical</a:t>
            </a:r>
            <a:r>
              <a:rPr lang="ar-EG" sz="2000"/>
              <a:t> </a:t>
            </a:r>
            <a:r>
              <a:rPr lang="ar-EG" sz="2000" err="1"/>
              <a:t>applications</a:t>
            </a:r>
            <a:r>
              <a:rPr lang="ar-EG" sz="2000"/>
              <a:t> (</a:t>
            </a:r>
            <a:r>
              <a:rPr lang="ar-EG" sz="2000" err="1"/>
              <a:t>software</a:t>
            </a:r>
            <a:r>
              <a:rPr lang="ar-EG" sz="2000"/>
              <a:t>, </a:t>
            </a:r>
            <a:r>
              <a:rPr lang="ar-EG" sz="2000" err="1"/>
              <a:t>databases</a:t>
            </a:r>
            <a:r>
              <a:rPr lang="ar-EG" sz="2000"/>
              <a:t>, </a:t>
            </a:r>
            <a:r>
              <a:rPr lang="ar-EG" sz="2000" err="1"/>
              <a:t>networking</a:t>
            </a:r>
            <a:r>
              <a:rPr lang="ar-EG" sz="2000"/>
              <a:t>, AI, </a:t>
            </a:r>
            <a:r>
              <a:rPr lang="ar-EG" sz="2000" err="1"/>
              <a:t>cybersecurity</a:t>
            </a:r>
            <a:r>
              <a:rPr lang="ar-EG" sz="2000"/>
              <a:t>).</a:t>
            </a:r>
          </a:p>
          <a:p>
            <a:pPr lvl="0">
              <a:spcBef>
                <a:spcPts val="1600"/>
              </a:spcBef>
              <a:buClr>
                <a:srgbClr val="30394B"/>
              </a:buClr>
            </a:pPr>
            <a:r>
              <a:rPr lang="ar-EG" sz="2000" err="1"/>
              <a:t>At</a:t>
            </a:r>
            <a:r>
              <a:rPr lang="ar-EG" sz="2000"/>
              <a:t> </a:t>
            </a:r>
            <a:r>
              <a:rPr lang="ar-EG" sz="2000" err="1"/>
              <a:t>its</a:t>
            </a:r>
            <a:r>
              <a:rPr lang="ar-EG" sz="2000"/>
              <a:t> </a:t>
            </a:r>
            <a:r>
              <a:rPr lang="ar-EG" sz="2000" err="1"/>
              <a:t>core</a:t>
            </a:r>
            <a:r>
              <a:rPr lang="ar-EG" sz="2000"/>
              <a:t>, CS </a:t>
            </a:r>
            <a:r>
              <a:rPr lang="ar-EG" sz="2000" err="1"/>
              <a:t>is</a:t>
            </a:r>
            <a:r>
              <a:rPr lang="ar-EG" sz="2000"/>
              <a:t> </a:t>
            </a:r>
            <a:r>
              <a:rPr lang="ar-EG" sz="2000" err="1"/>
              <a:t>about</a:t>
            </a:r>
            <a:r>
              <a:rPr lang="ar-EG" sz="2000"/>
              <a:t> </a:t>
            </a:r>
            <a:r>
              <a:rPr lang="ar-EG" sz="2000" err="1"/>
              <a:t>using</a:t>
            </a:r>
            <a:r>
              <a:rPr lang="ar-EG" sz="2000"/>
              <a:t> </a:t>
            </a:r>
            <a:r>
              <a:rPr lang="ar-EG" sz="2000" err="1"/>
              <a:t>computers</a:t>
            </a:r>
            <a:r>
              <a:rPr lang="ar-EG" sz="2000"/>
              <a:t> </a:t>
            </a:r>
            <a:r>
              <a:rPr lang="ar-EG" sz="2000" err="1"/>
              <a:t>to</a:t>
            </a:r>
            <a:r>
              <a:rPr lang="ar-EG" sz="2000"/>
              <a:t> </a:t>
            </a:r>
            <a:r>
              <a:rPr lang="ar-EG" sz="2000" err="1"/>
              <a:t>solve</a:t>
            </a:r>
            <a:r>
              <a:rPr lang="ar-EG" sz="2000"/>
              <a:t> </a:t>
            </a:r>
            <a:r>
              <a:rPr lang="ar-EG" sz="2000" err="1"/>
              <a:t>problems</a:t>
            </a:r>
            <a:r>
              <a:rPr lang="ar-EG" sz="2000"/>
              <a:t> </a:t>
            </a:r>
            <a:r>
              <a:rPr lang="ar-EG" sz="2000" err="1"/>
              <a:t>efficiently</a:t>
            </a:r>
            <a:r>
              <a:rPr lang="ar-EG" sz="2000"/>
              <a:t>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What is Programming?</a:t>
            </a:r>
            <a:endParaRPr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23888" y="914328"/>
            <a:ext cx="7705500" cy="2829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1600"/>
              </a:spcBef>
              <a:buClr>
                <a:srgbClr val="30394B"/>
              </a:buClr>
            </a:pPr>
            <a:r>
              <a:rPr lang="en-US" sz="2000"/>
              <a:t>Programming is the process of writing instructions that a computer can understand and execute.</a:t>
            </a:r>
          </a:p>
          <a:p>
            <a:pPr lvl="0">
              <a:spcBef>
                <a:spcPts val="1600"/>
              </a:spcBef>
              <a:buClr>
                <a:srgbClr val="30394B"/>
              </a:buClr>
            </a:pPr>
            <a:r>
              <a:rPr lang="en-US" sz="2000"/>
              <a:t>A program tells the computer what to do, step by step.</a:t>
            </a:r>
          </a:p>
          <a:p>
            <a:pPr lvl="0">
              <a:spcBef>
                <a:spcPts val="1600"/>
              </a:spcBef>
              <a:buClr>
                <a:srgbClr val="30394B"/>
              </a:buClr>
            </a:pPr>
            <a:r>
              <a:rPr lang="en-US" sz="2000"/>
              <a:t>Programming is like giving a recipe to a chef: clear instructions must be followed exactly.</a:t>
            </a:r>
            <a:endParaRPr sz="2000"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503645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4184308" y="1579852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636647" y="1832356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636647" y="2909243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636647" y="3987060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86098" y="526270"/>
            <a:ext cx="3567287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/>
              <a:t>Why do we program?</a:t>
            </a:r>
            <a:endParaRPr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569208" y="1972015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e.g., payroll systems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569208" y="1688551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b="1"/>
              <a:t>To Automate Tasks</a:t>
            </a:r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569208" y="2767543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b="1"/>
              <a:t>To Analyze Data</a:t>
            </a:r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569207" y="3051007"/>
            <a:ext cx="2921725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e.g., scientific computing, data science</a:t>
            </a:r>
            <a:endParaRPr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569208" y="3846535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b="1"/>
              <a:t>To Create Applications</a:t>
            </a: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569208" y="4129999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e.g., games, mobile apps, AI systems</a:t>
            </a:r>
            <a:endParaRPr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718816" y="1981159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718816" y="3060151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718816" y="4139143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9" grpId="0" build="p"/>
      <p:bldP spid="2140" grpId="0" build="p"/>
      <p:bldP spid="2141" grpId="0" build="p"/>
      <p:bldP spid="2142" grpId="0" build="p"/>
      <p:bldP spid="2143" grpId="0" build="p"/>
      <p:bldP spid="2144" grpId="0" build="p"/>
      <p:bldP spid="2147" grpId="0"/>
      <p:bldP spid="2148" grpId="0"/>
      <p:bldP spid="21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2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Languages</a:t>
            </a:r>
            <a:endParaRPr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112" y="1076308"/>
            <a:ext cx="6143625" cy="368617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2162;p39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2163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9"/>
          <p:cNvSpPr txBox="1"/>
          <p:nvPr/>
        </p:nvSpPr>
        <p:spPr>
          <a:xfrm>
            <a:off x="4039175" y="1473608"/>
            <a:ext cx="10656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rPr>
              <a:t>Your logo</a:t>
            </a:r>
            <a:endParaRPr>
              <a:solidFill>
                <a:schemeClr val="dk2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2166" name="Google Shape;2166;p39"/>
          <p:cNvGrpSpPr/>
          <p:nvPr/>
        </p:nvGrpSpPr>
        <p:grpSpPr>
          <a:xfrm>
            <a:off x="4276542" y="950661"/>
            <a:ext cx="591455" cy="590639"/>
            <a:chOff x="1190625" y="238125"/>
            <a:chExt cx="5238750" cy="5231525"/>
          </a:xfrm>
        </p:grpSpPr>
        <p:sp>
          <p:nvSpPr>
            <p:cNvPr id="2167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8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9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0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1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2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3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4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5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6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Company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468" y="526916"/>
            <a:ext cx="2458191" cy="2527108"/>
          </a:xfrm>
          <a:prstGeom prst="rect">
            <a:avLst/>
          </a:prstGeom>
        </p:spPr>
      </p:pic>
      <p:sp>
        <p:nvSpPr>
          <p:cNvPr id="21" name="Google Shape;2155;p38"/>
          <p:cNvSpPr txBox="1">
            <a:spLocks/>
          </p:cNvSpPr>
          <p:nvPr/>
        </p:nvSpPr>
        <p:spPr>
          <a:xfrm>
            <a:off x="2663231" y="3011682"/>
            <a:ext cx="3800104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4700">
                <a:solidFill>
                  <a:schemeClr val="accent2">
                    <a:lumMod val="25000"/>
                  </a:schemeClr>
                </a:solidFill>
              </a:rPr>
              <a:t>Programming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Why C++ for Programming?</a:t>
            </a:r>
            <a:endParaRPr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23888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/>
              <a:t>C++</a:t>
            </a:r>
            <a:r>
              <a:rPr lang="en-US" sz="1800"/>
              <a:t> is one of the most widely used programming languages in the world.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It is a </a:t>
            </a:r>
            <a:r>
              <a:rPr lang="en-US" sz="1800" b="1"/>
              <a:t>general-purpose, compiled, high-performance language</a:t>
            </a:r>
            <a:r>
              <a:rPr lang="en-US" sz="18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/>
              <a:t>Low-level power of C</a:t>
            </a:r>
            <a:r>
              <a:rPr lang="en-US" sz="2000"/>
              <a:t> (close to hardware).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/>
              <a:t>High-level abstraction</a:t>
            </a:r>
            <a:r>
              <a:rPr lang="en-US" sz="2000"/>
              <a:t> via Object-Oriented Programming (OOP).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Used in </a:t>
            </a:r>
            <a:r>
              <a:rPr lang="en-US" sz="1800" b="1"/>
              <a:t>games, operating systems, finance, simulations, and embedded systems</a:t>
            </a:r>
            <a:r>
              <a:rPr lang="en-US" sz="1800"/>
              <a:t>.</a:t>
            </a:r>
          </a:p>
          <a:p>
            <a:pPr marL="152400" indent="0">
              <a:buNone/>
            </a:pPr>
            <a:endParaRPr lang="en-US" sz="1800"/>
          </a:p>
          <a:p>
            <a:pPr marL="152400" indent="0">
              <a:buNone/>
            </a:pPr>
            <a:endParaRPr lang="en-US" sz="1800"/>
          </a:p>
          <a:p>
            <a:pPr marL="152400" indent="0">
              <a:buNone/>
            </a:pPr>
            <a:r>
              <a:rPr lang="en-US" sz="1800">
                <a:solidFill>
                  <a:srgbClr val="FF0000"/>
                </a:solidFill>
              </a:rPr>
              <a:t>✅ </a:t>
            </a:r>
            <a:r>
              <a:rPr lang="en-US" sz="1800" b="1">
                <a:solidFill>
                  <a:srgbClr val="FF0000"/>
                </a:solidFill>
              </a:rPr>
              <a:t>Learning C++ gives you strong programming fundamentals</a:t>
            </a:r>
            <a:r>
              <a:rPr lang="en-US" sz="1800">
                <a:solidFill>
                  <a:srgbClr val="FF0000"/>
                </a:solidFill>
              </a:rPr>
              <a:t> </a:t>
            </a:r>
            <a:r>
              <a:rPr lang="en-US" sz="1800"/>
              <a:t>that transfer easily to other languages (Python, Java, C#, etc.).</a:t>
            </a:r>
          </a:p>
        </p:txBody>
      </p:sp>
    </p:spTree>
    <p:extLst>
      <p:ext uri="{BB962C8B-B14F-4D97-AF65-F5344CB8AC3E}">
        <p14:creationId xmlns:p14="http://schemas.microsoft.com/office/powerpoint/2010/main" val="207079844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55;p38"/>
          <p:cNvSpPr txBox="1">
            <a:spLocks noGrp="1"/>
          </p:cNvSpPr>
          <p:nvPr>
            <p:ph type="title"/>
          </p:nvPr>
        </p:nvSpPr>
        <p:spPr>
          <a:xfrm>
            <a:off x="1068703" y="271708"/>
            <a:ext cx="7006442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/>
              <a:t>First Steps in Programming with C++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3" y="1076308"/>
            <a:ext cx="6590805" cy="374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315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55;p38"/>
          <p:cNvSpPr txBox="1">
            <a:spLocks noGrp="1"/>
          </p:cNvSpPr>
          <p:nvPr>
            <p:ph type="title"/>
          </p:nvPr>
        </p:nvSpPr>
        <p:spPr>
          <a:xfrm>
            <a:off x="1068703" y="271708"/>
            <a:ext cx="7006442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/>
              <a:t>First Steps in Programming with C++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4" y="1076308"/>
            <a:ext cx="4154650" cy="3740727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 rot="20819989">
            <a:off x="3306872" y="1758636"/>
            <a:ext cx="3532340" cy="5135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allows input/output operations.</a:t>
            </a:r>
          </a:p>
        </p:txBody>
      </p:sp>
      <p:sp>
        <p:nvSpPr>
          <p:cNvPr id="9" name="Left Arrow 8"/>
          <p:cNvSpPr/>
          <p:nvPr/>
        </p:nvSpPr>
        <p:spPr>
          <a:xfrm>
            <a:off x="3527188" y="2634669"/>
            <a:ext cx="3532340" cy="5135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makes code simpler to write.</a:t>
            </a:r>
          </a:p>
        </p:txBody>
      </p:sp>
      <p:sp>
        <p:nvSpPr>
          <p:cNvPr id="10" name="Left Arrow 9"/>
          <p:cNvSpPr/>
          <p:nvPr/>
        </p:nvSpPr>
        <p:spPr>
          <a:xfrm>
            <a:off x="2715084" y="3251011"/>
            <a:ext cx="3532340" cy="5135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the starting point of the program.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2992744" y="3964506"/>
            <a:ext cx="3532340" cy="5135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indicates successful completion.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5240190" y="3625544"/>
            <a:ext cx="4183693" cy="5135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indicates successful completion</a:t>
            </a:r>
          </a:p>
        </p:txBody>
      </p:sp>
    </p:spTree>
    <p:extLst>
      <p:ext uri="{BB962C8B-B14F-4D97-AF65-F5344CB8AC3E}">
        <p14:creationId xmlns:p14="http://schemas.microsoft.com/office/powerpoint/2010/main" val="88864082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Online Compiler</a:t>
            </a:r>
            <a:endParaRPr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23888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An online compiler is a web-based tool that allows you to write, compile, and run code directly in a web browser without needing to install any software on your local machine.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</a:rPr>
              <a:t>Now open google in your pc and type online </a:t>
            </a:r>
            <a:r>
              <a:rPr lang="en-US" sz="2000" b="1" err="1">
                <a:solidFill>
                  <a:srgbClr val="FF0000"/>
                </a:solidFill>
              </a:rPr>
              <a:t>c++</a:t>
            </a:r>
            <a:r>
              <a:rPr lang="en-US" sz="2000" b="1">
                <a:solidFill>
                  <a:srgbClr val="FF0000"/>
                </a:solidFill>
              </a:rPr>
              <a:t> complier.</a:t>
            </a:r>
            <a:endParaRPr lang="en-US" sz="2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9997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2000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4718153" y="995200"/>
            <a:ext cx="3144600" cy="3153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" name="Google Shape;2336;p45"/>
          <p:cNvSpPr txBox="1">
            <a:spLocks/>
          </p:cNvSpPr>
          <p:nvPr/>
        </p:nvSpPr>
        <p:spPr>
          <a:xfrm>
            <a:off x="498372" y="2059732"/>
            <a:ext cx="4037778" cy="19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n-US" sz="4400" b="1">
                <a:solidFill>
                  <a:schemeClr val="tx1"/>
                </a:solidFill>
              </a:rPr>
              <a:t>Let’s write your first C++ program by yourself</a:t>
            </a:r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Exercise 1</a:t>
            </a:r>
            <a:endParaRPr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23888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Write </a:t>
            </a:r>
            <a:r>
              <a:rPr lang="en-US" sz="2000" b="1" err="1"/>
              <a:t>c++</a:t>
            </a:r>
            <a:r>
              <a:rPr lang="en-US" sz="2000" b="1"/>
              <a:t>   program to print the following information: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Your name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Your ID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Your email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b="1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7710027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51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Applications of C++</a:t>
            </a:r>
            <a:endParaRPr/>
          </a:p>
        </p:txBody>
      </p:sp>
      <p:grpSp>
        <p:nvGrpSpPr>
          <p:cNvPr id="2949" name="Google Shape;2949;p51"/>
          <p:cNvGrpSpPr/>
          <p:nvPr/>
        </p:nvGrpSpPr>
        <p:grpSpPr>
          <a:xfrm>
            <a:off x="5495189" y="2811226"/>
            <a:ext cx="203374" cy="179736"/>
            <a:chOff x="-3137650" y="2787000"/>
            <a:chExt cx="291450" cy="257575"/>
          </a:xfrm>
        </p:grpSpPr>
        <p:sp>
          <p:nvSpPr>
            <p:cNvPr id="2950" name="Google Shape;2950;p5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51"/>
          <p:cNvGrpSpPr/>
          <p:nvPr/>
        </p:nvGrpSpPr>
        <p:grpSpPr>
          <a:xfrm>
            <a:off x="3830965" y="2799136"/>
            <a:ext cx="203915" cy="203915"/>
            <a:chOff x="-6354300" y="2757075"/>
            <a:chExt cx="292225" cy="292225"/>
          </a:xfrm>
        </p:grpSpPr>
        <p:sp>
          <p:nvSpPr>
            <p:cNvPr id="2959" name="Google Shape;2959;p51"/>
            <p:cNvSpPr/>
            <p:nvPr/>
          </p:nvSpPr>
          <p:spPr>
            <a:xfrm>
              <a:off x="-6354300" y="2757075"/>
              <a:ext cx="292225" cy="292225"/>
            </a:xfrm>
            <a:custGeom>
              <a:avLst/>
              <a:gdLst/>
              <a:ahLst/>
              <a:cxnLst/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51"/>
            <p:cNvSpPr/>
            <p:nvPr/>
          </p:nvSpPr>
          <p:spPr>
            <a:xfrm>
              <a:off x="-6268450" y="279015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1"/>
            <p:cNvSpPr/>
            <p:nvPr/>
          </p:nvSpPr>
          <p:spPr>
            <a:xfrm>
              <a:off x="-6268450" y="282560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1"/>
            <p:cNvSpPr/>
            <p:nvPr/>
          </p:nvSpPr>
          <p:spPr>
            <a:xfrm>
              <a:off x="-6268450" y="2860250"/>
              <a:ext cx="119750" cy="17350"/>
            </a:xfrm>
            <a:custGeom>
              <a:avLst/>
              <a:gdLst/>
              <a:ahLst/>
              <a:cxnLst/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3" name="Google Shape;2963;p51"/>
          <p:cNvGrpSpPr/>
          <p:nvPr/>
        </p:nvGrpSpPr>
        <p:grpSpPr>
          <a:xfrm>
            <a:off x="4917834" y="2603164"/>
            <a:ext cx="203374" cy="203915"/>
            <a:chOff x="-1700225" y="2768875"/>
            <a:chExt cx="291450" cy="292225"/>
          </a:xfrm>
        </p:grpSpPr>
        <p:sp>
          <p:nvSpPr>
            <p:cNvPr id="2964" name="Google Shape;2964;p51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51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51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1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1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1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77" y="1089765"/>
            <a:ext cx="6651320" cy="368265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Pros and Cons of C++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14" y="910263"/>
            <a:ext cx="7202467" cy="399580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31" name="Google Shape;2331;p44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153" y="1748863"/>
            <a:ext cx="3144600" cy="1645674"/>
          </a:xfrm>
          <a:prstGeom prst="ellipse">
            <a:avLst/>
          </a:prstGeom>
          <a:noFill/>
          <a:ln>
            <a:noFill/>
          </a:ln>
        </p:spPr>
      </p:pic>
      <p:sp>
        <p:nvSpPr>
          <p:cNvPr id="9" name="Google Shape;2336;p45"/>
          <p:cNvSpPr txBox="1">
            <a:spLocks/>
          </p:cNvSpPr>
          <p:nvPr/>
        </p:nvSpPr>
        <p:spPr>
          <a:xfrm>
            <a:off x="277951" y="1748863"/>
            <a:ext cx="4440202" cy="19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l"/>
            <a:r>
              <a:rPr lang="en-US" sz="3200" b="1">
                <a:solidFill>
                  <a:schemeClr val="tx1"/>
                </a:solidFill>
              </a:rPr>
              <a:t>Your lab assessment will be on two parts:</a:t>
            </a:r>
          </a:p>
          <a:p>
            <a:pPr algn="l"/>
            <a:r>
              <a:rPr lang="en-US" sz="3200" b="1">
                <a:solidFill>
                  <a:schemeClr val="tx1"/>
                </a:solidFill>
              </a:rPr>
              <a:t>1- Lab quiz out of 5</a:t>
            </a:r>
          </a:p>
          <a:p>
            <a:pPr algn="l"/>
            <a:r>
              <a:rPr lang="en-US" sz="3200" b="1">
                <a:solidFill>
                  <a:schemeClr val="tx1"/>
                </a:solidFill>
              </a:rPr>
              <a:t>2- Assignment out of 5</a:t>
            </a:r>
          </a:p>
          <a:p>
            <a:pPr algn="l"/>
            <a:r>
              <a:rPr lang="en-US" sz="3200" b="1">
                <a:solidFill>
                  <a:schemeClr val="tx1"/>
                </a:solidFill>
              </a:rPr>
              <a:t>3- Final lab out of 20</a:t>
            </a:r>
          </a:p>
        </p:txBody>
      </p:sp>
    </p:spTree>
    <p:extLst>
      <p:ext uri="{BB962C8B-B14F-4D97-AF65-F5344CB8AC3E}">
        <p14:creationId xmlns:p14="http://schemas.microsoft.com/office/powerpoint/2010/main" val="189562740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5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Technology Consulting by Slidesgo</vt:lpstr>
      <vt:lpstr>Slidesgo Final Pages</vt:lpstr>
      <vt:lpstr>CS.102</vt:lpstr>
      <vt:lpstr>What is Computer Science?</vt:lpstr>
      <vt:lpstr>What is Programming?</vt:lpstr>
      <vt:lpstr>Why do we program?</vt:lpstr>
      <vt:lpstr>Programming Languages</vt:lpstr>
      <vt:lpstr>Our Company</vt:lpstr>
      <vt:lpstr>Why C++ for Programming?</vt:lpstr>
      <vt:lpstr>First Steps in Programming with C++</vt:lpstr>
      <vt:lpstr>First Steps in Programming with C++</vt:lpstr>
      <vt:lpstr>Your Turn</vt:lpstr>
      <vt:lpstr>Online Compiler</vt:lpstr>
      <vt:lpstr>PowerPoint Presentation</vt:lpstr>
      <vt:lpstr>Exercise 1</vt:lpstr>
      <vt:lpstr>Applications of C++</vt:lpstr>
      <vt:lpstr>Pros and Cons of C++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dc:creator>shaimaa bahaa</dc:creator>
  <cp:revision>2</cp:revision>
  <dcterms:modified xsi:type="dcterms:W3CDTF">2026-09-25T19:23:19Z</dcterms:modified>
</cp:coreProperties>
</file>